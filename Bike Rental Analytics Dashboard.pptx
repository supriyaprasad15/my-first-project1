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0212B-9F3D-4475-A6BA-666F3AA2881A}" v="130" dt="2026-03-24T11:08:25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ublicisgroupe-my.sharepoint.com/personal/supprasa1_publicisgroupe_net/Documents/Desktop/Excel%20Project%20folder/Bike%20Rental%20Analyt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ublicisgroupe-my.sharepoint.com/personal/supprasa1_publicisgroupe_net/Documents/Desktop/Excel%20Project%20folder/Bike%20Rental%20Analyt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ublicisgroupe-my.sharepoint.com/personal/supprasa1_publicisgroupe_net/Documents/Desktop/Excel%20Project%20folder/Bike%20Rental%20Analy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ublicisgroupe-my.sharepoint.com/personal/supprasa1_publicisgroupe_net/Documents/Desktop/Excel%20Project%20folder/Bike%20Rental%20Analytic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Rental Analytics.xlsx]Pivot_Day_Type!PT_DayType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 Rentals by Day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eparator> -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2563EB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rgbClr val="10B98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rgbClr val="F59E0B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eparator> - 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2563EB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rgbClr val="10B98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rgbClr val="F59E0B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eparator> - 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2563EB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rgbClr val="10B98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rgbClr val="F59E0B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Pivot_Day_Type!$B$3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2563E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9CB-49D1-84E7-AAC5D5CE1F01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CB-49D1-84E7-AAC5D5CE1F01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9CB-49D1-84E7-AAC5D5CE1F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11182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-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Pivot_Day_Type!$A$4:$A$7</c:f>
              <c:strCache>
                <c:ptCount val="3"/>
                <c:pt idx="0">
                  <c:v>Holiday</c:v>
                </c:pt>
                <c:pt idx="1">
                  <c:v>Weekday</c:v>
                </c:pt>
                <c:pt idx="2">
                  <c:v>Weekend</c:v>
                </c:pt>
              </c:strCache>
            </c:strRef>
          </c:cat>
          <c:val>
            <c:numRef>
              <c:f>Pivot_Day_Type!$B$4:$B$7</c:f>
              <c:numCache>
                <c:formatCode>#,##0</c:formatCode>
                <c:ptCount val="3"/>
                <c:pt idx="0">
                  <c:v>1000</c:v>
                </c:pt>
                <c:pt idx="1">
                  <c:v>41435</c:v>
                </c:pt>
                <c:pt idx="2">
                  <c:v>15869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CB-49D1-84E7-AAC5D5CE1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Rental Analytics.xlsx]Pivot_Hour!PT_Hour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 Rentals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rgbClr val="2563EB"/>
            </a:solidFill>
            <a:prstDash val="solid"/>
            <a:round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2563EB"/>
            </a:solidFill>
            <a:prstDash val="solid"/>
            <a:round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rgbClr val="EF4444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2563EB"/>
            </a:solidFill>
            <a:prstDash val="solid"/>
            <a:round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2563EB"/>
            </a:solidFill>
            <a:prstDash val="solid"/>
            <a:round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rgbClr val="EF4444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rgbClr val="2563EB"/>
            </a:solidFill>
            <a:prstDash val="solid"/>
            <a:round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2563EB"/>
            </a:solidFill>
            <a:prstDash val="solid"/>
            <a:round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rgbClr val="EF4444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Pivot_Hour!$B$3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7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2563E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C1-47FB-A230-BFD7EA4C92F1}"/>
              </c:ext>
            </c:extLst>
          </c:dPt>
          <c:dLbls>
            <c:dLbl>
              <c:idx val="1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rgbClr val="EF444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C1-47FB-A230-BFD7EA4C92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Pivot_Hour!$A$4:$A$28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Pivot_Hour!$B$4:$B$28</c:f>
              <c:numCache>
                <c:formatCode>#,##0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C1-47FB-A230-BFD7EA4C9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9298560"/>
        <c:axId val="1419280320"/>
      </c:lineChart>
      <c:catAx>
        <c:axId val="14192985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3741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 of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3741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9280320"/>
        <c:crosses val="autoZero"/>
        <c:auto val="1"/>
        <c:lblAlgn val="ctr"/>
        <c:lblOffset val="100"/>
        <c:noMultiLvlLbl val="0"/>
      </c:catAx>
      <c:valAx>
        <c:axId val="141928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3741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Rentals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3741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929856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Rental Analytics.xlsx]Pivot_Weather!PT_Weather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 Rentals by Weather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2563EB"/>
          </a:solidFill>
          <a:ln>
            <a:noFill/>
          </a:ln>
          <a:effectLst/>
        </c:spPr>
      </c:pivotFmt>
      <c:pivotFmt>
        <c:idx val="2"/>
        <c:spPr>
          <a:solidFill>
            <a:srgbClr val="06B6D4"/>
          </a:solidFill>
          <a:ln>
            <a:noFill/>
          </a:ln>
          <a:effectLst/>
        </c:spPr>
      </c:pivotFmt>
      <c:pivotFmt>
        <c:idx val="3"/>
        <c:spPr>
          <a:solidFill>
            <a:srgbClr val="06B6D4"/>
          </a:solidFill>
          <a:ln>
            <a:noFill/>
          </a:ln>
          <a:effectLst/>
        </c:spPr>
      </c:pivotFmt>
      <c:pivotFmt>
        <c:idx val="4"/>
        <c:spPr>
          <a:solidFill>
            <a:srgbClr val="F59E0B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2563EB"/>
          </a:solidFill>
          <a:ln>
            <a:noFill/>
          </a:ln>
          <a:effectLst/>
        </c:spPr>
      </c:pivotFmt>
      <c:pivotFmt>
        <c:idx val="7"/>
        <c:spPr>
          <a:solidFill>
            <a:srgbClr val="06B6D4"/>
          </a:solidFill>
          <a:ln>
            <a:noFill/>
          </a:ln>
          <a:effectLst/>
        </c:spPr>
      </c:pivotFmt>
      <c:pivotFmt>
        <c:idx val="8"/>
        <c:spPr>
          <a:solidFill>
            <a:srgbClr val="06B6D4"/>
          </a:solidFill>
          <a:ln>
            <a:noFill/>
          </a:ln>
          <a:effectLst/>
        </c:spPr>
      </c:pivotFmt>
      <c:pivotFmt>
        <c:idx val="9"/>
        <c:spPr>
          <a:solidFill>
            <a:srgbClr val="F59E0B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2563EB"/>
          </a:solidFill>
          <a:ln>
            <a:noFill/>
          </a:ln>
          <a:effectLst/>
        </c:spPr>
      </c:pivotFmt>
      <c:pivotFmt>
        <c:idx val="12"/>
        <c:spPr>
          <a:solidFill>
            <a:srgbClr val="06B6D4"/>
          </a:solidFill>
          <a:ln>
            <a:noFill/>
          </a:ln>
          <a:effectLst/>
        </c:spPr>
      </c:pivotFmt>
      <c:pivotFmt>
        <c:idx val="13"/>
        <c:spPr>
          <a:solidFill>
            <a:srgbClr val="06B6D4"/>
          </a:solidFill>
          <a:ln>
            <a:noFill/>
          </a:ln>
          <a:effectLst/>
        </c:spPr>
      </c:pivotFmt>
      <c:pivotFmt>
        <c:idx val="14"/>
        <c:spPr>
          <a:solidFill>
            <a:srgbClr val="F59E0B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Pivot_Weather!$B$3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4D-4C24-9D5C-9AECE106CF6D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4D-4C24-9D5C-9AECE106CF6D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4D-4C24-9D5C-9AECE106CF6D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4D-4C24-9D5C-9AECE106CF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1182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Pivot_Weather!$A$4:$A$8</c:f>
              <c:strCache>
                <c:ptCount val="4"/>
                <c:pt idx="0">
                  <c:v>Clear</c:v>
                </c:pt>
                <c:pt idx="1">
                  <c:v>Heavy Rain</c:v>
                </c:pt>
                <c:pt idx="2">
                  <c:v>Light Rain/Snow</c:v>
                </c:pt>
                <c:pt idx="3">
                  <c:v>Mist</c:v>
                </c:pt>
              </c:strCache>
            </c:strRef>
          </c:cat>
          <c:val>
            <c:numRef>
              <c:f>Pivot_Weather!$B$4:$B$8</c:f>
              <c:numCache>
                <c:formatCode>#,##0</c:formatCode>
                <c:ptCount val="4"/>
                <c:pt idx="0">
                  <c:v>37373</c:v>
                </c:pt>
                <c:pt idx="1">
                  <c:v>36</c:v>
                </c:pt>
                <c:pt idx="2">
                  <c:v>2789</c:v>
                </c:pt>
                <c:pt idx="3">
                  <c:v>18106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4D-4C24-9D5C-9AECE106CF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58644016"/>
        <c:axId val="2058645936"/>
      </c:barChart>
      <c:catAx>
        <c:axId val="20586440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3741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Weather Condition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3741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8645936"/>
        <c:crosses val="autoZero"/>
        <c:auto val="1"/>
        <c:lblAlgn val="ctr"/>
        <c:lblOffset val="100"/>
        <c:noMultiLvlLbl val="0"/>
      </c:catAx>
      <c:valAx>
        <c:axId val="2058645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3741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Rentals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3741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8644016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Rental Analytics.xlsx]Pivot_Season!PT_Season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 Rentals by Season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8B5CF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8B5CF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8B5CF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Pivot_Season!$B$3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B5CF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1182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Pivot_Season!$A$4:$A$5</c:f>
              <c:strCache>
                <c:ptCount val="1"/>
                <c:pt idx="0">
                  <c:v>1</c:v>
                </c:pt>
              </c:strCache>
            </c:strRef>
          </c:cat>
          <c:val>
            <c:numRef>
              <c:f>Pivot_Season!$B$4:$B$5</c:f>
              <c:numCache>
                <c:formatCode>#,##0</c:formatCode>
                <c:ptCount val="1"/>
                <c:pt idx="0">
                  <c:v>58304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18-4C6E-9259-8ED4A865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26236560"/>
        <c:axId val="1926238960"/>
      </c:barChart>
      <c:catAx>
        <c:axId val="19262365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3741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Season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3741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6238960"/>
        <c:crosses val="autoZero"/>
        <c:auto val="1"/>
        <c:lblAlgn val="ctr"/>
        <c:lblOffset val="100"/>
        <c:noMultiLvlLbl val="0"/>
      </c:catAx>
      <c:valAx>
        <c:axId val="192623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3741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Rentals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3741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623656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13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94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4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54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16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69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83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47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0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839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6922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51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734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25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41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B8E8FF-DE69-4F80-A33A-AFB0924EA9A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6A294-7D25-47BC-9C60-62552C841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0979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9310-6F33-8321-0920-76B211ADF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8792"/>
            <a:ext cx="12192000" cy="2898476"/>
          </a:xfrm>
        </p:spPr>
        <p:txBody>
          <a:bodyPr/>
          <a:lstStyle/>
          <a:p>
            <a:pPr algn="ctr"/>
            <a:r>
              <a:rPr lang="en-IN" dirty="0"/>
              <a:t>Bike Sharing Demand                             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AF5C7-1ABE-BC2B-ABB1-81DE155D7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700733"/>
            <a:ext cx="8825658" cy="1733909"/>
          </a:xfrm>
        </p:spPr>
        <p:txBody>
          <a:bodyPr/>
          <a:lstStyle/>
          <a:p>
            <a:pPr algn="ctr"/>
            <a:r>
              <a:rPr lang="en-US" sz="6000" b="1" dirty="0" err="1"/>
              <a:t>nexthikes</a:t>
            </a:r>
            <a:endParaRPr lang="en-IN" sz="60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40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6348-6B8E-26E0-7B5F-22AAB1BF3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9344"/>
            <a:ext cx="10049853" cy="5679056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400" b="1" dirty="0"/>
              <a:t>Project Title:</a:t>
            </a:r>
            <a:br>
              <a:rPr lang="en-US" dirty="0"/>
            </a:br>
            <a:r>
              <a:rPr lang="en-US" dirty="0"/>
              <a:t>Data Analytics and Automation for Bike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     Company Name:</a:t>
            </a:r>
            <a:r>
              <a:rPr lang="en-US" dirty="0"/>
              <a:t> </a:t>
            </a:r>
            <a:r>
              <a:rPr lang="en-US" dirty="0" err="1"/>
              <a:t>NextHikes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  Date: March</a:t>
            </a:r>
            <a:r>
              <a:rPr lang="en-US" dirty="0"/>
              <a:t> 2026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    </a:t>
            </a:r>
            <a:r>
              <a:rPr lang="en-US" b="1" dirty="0"/>
              <a:t>Student Name: Supriya</a:t>
            </a:r>
            <a:r>
              <a:rPr lang="en-US" dirty="0"/>
              <a:t> Prasad 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5E4EB9A-BBBF-6268-16E1-6A7352E8FF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260121"/>
            <a:ext cx="4106254" cy="594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C13F04DC-0E32-3FBC-F5EB-F488416B6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052423"/>
            <a:ext cx="4718650" cy="506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C53459-F928-2D1F-D057-DDAA07B60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83079"/>
            <a:ext cx="5411638" cy="580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2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A48B43-10B1-E4A1-9A3A-E55043D1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347" y="452438"/>
            <a:ext cx="42498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31E469-3D13-5301-B931-D6F7F9300B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275" y="2719497"/>
            <a:ext cx="121330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analyzing bike rental demand based on time and weather conditions.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from three different sources was collected and combined.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data cleaning and preprocessing were carried out.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datasets were merged using Power Query.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Additional fields were created such as Time Slot (Morning, Afternoon, Evening, Night, Midnight).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 Type was categorized into Working Day and Holiday.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Weekdays were defined from Sunday to Saturday.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conditions were grouped as Clear, Cloudy, Light Rain, and Heavy Rain. </a:t>
            </a:r>
          </a:p>
        </p:txBody>
      </p:sp>
    </p:spTree>
    <p:extLst>
      <p:ext uri="{BB962C8B-B14F-4D97-AF65-F5344CB8AC3E}">
        <p14:creationId xmlns:p14="http://schemas.microsoft.com/office/powerpoint/2010/main" val="236547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1E3F4E1-B084-4FFF-9627-13782BE0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EA3FF6-871F-754E-36C9-A6A7E297B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3855" y="1447800"/>
            <a:ext cx="3108626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>
              <a:ln>
                <a:noFill/>
              </a:ln>
              <a:solidFill>
                <a:srgbClr val="EBEBE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This chart shows bike rental distribution by day type.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Most rentals occur on weekdays (71%).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Weekend demand is moderate (27%), while holidays have very low usage (2%). 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F8051AB-C2F8-461F-812A-3E588621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481E0C28-CB2F-425F-98C5-AF23B9B70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DB2879C-F0B1-4195-A323-E97B6065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Pie_DayType">
            <a:extLst>
              <a:ext uri="{FF2B5EF4-FFF2-40B4-BE49-F238E27FC236}">
                <a16:creationId xmlns:a16="http://schemas.microsoft.com/office/drawing/2014/main" id="{E4CC942F-914F-9229-4347-994E31B899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364078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638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1E3F4E1-B084-4FFF-9627-13782BE0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A66EA5-1DCE-EE6E-4E79-57FBCBC4A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3855" y="1447800"/>
            <a:ext cx="3108626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rgbClr val="EBEBE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Bike rentals increase during working hours.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The highest demand is observed at 5 PM.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Early morning and late-night hours show low usage.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8051AB-C2F8-461F-812A-3E588621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481E0C28-CB2F-425F-98C5-AF23B9B70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B2879C-F0B1-4195-A323-E97B6065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Line_Hour_Dashboard">
            <a:extLst>
              <a:ext uri="{FF2B5EF4-FFF2-40B4-BE49-F238E27FC236}">
                <a16:creationId xmlns:a16="http://schemas.microsoft.com/office/drawing/2014/main" id="{EE7006FA-61C5-F8F1-1A32-2150CB715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081913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1690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1E3F4E1-B084-4FFF-9627-13782BE0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EF8F91-02C5-A55F-687E-B0ED662E7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3855" y="1447800"/>
            <a:ext cx="3108626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700" b="0" i="0" u="none" strike="noStrike" cap="none" normalizeH="0" baseline="0">
              <a:ln>
                <a:noFill/>
              </a:ln>
              <a:solidFill>
                <a:srgbClr val="EBEBE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Bike rentals are highest in clear weather conditions.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Mist also shows moderate usage.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Rainy conditions, especially heavy rain, have very low rentals.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8051AB-C2F8-461F-812A-3E588621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481E0C28-CB2F-425F-98C5-AF23B9B70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B2879C-F0B1-4195-A323-E97B6065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3D8309E4-D51F-4871-1841-0C7ADB096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569705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7500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1E3F4E1-B084-4FFF-9627-13782BE0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EA22FB-15F2-C3C6-48EB-E36F50E9D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3855" y="1447800"/>
            <a:ext cx="3108626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>
              <a:ln>
                <a:noFill/>
              </a:ln>
              <a:solidFill>
                <a:srgbClr val="EBEBE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The dataset represents bike rentals for a specific season.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A total of 58,304 rentals were observed.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Further comparison can be done if multiple seasons are included.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8051AB-C2F8-461F-812A-3E588621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481E0C28-CB2F-425F-98C5-AF23B9B70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B2879C-F0B1-4195-A323-E97B6065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35F96C07-D3FF-F6BB-C049-BC03AB39BC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829059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2663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DF212DC-3C79-454E-A58A-843742ACC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F532797E-167C-4660-8A7B-5786A091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12700">
            <a:solidFill>
              <a:schemeClr val="tx2">
                <a:lumMod val="75000"/>
              </a:schemeClr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4BFA00-F4CE-75D6-6985-0F15C89D3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72203"/>
            <a:ext cx="12191999" cy="6223819"/>
          </a:xfrm>
          <a:prstGeom prst="rect">
            <a:avLst/>
          </a:prstGeom>
          <a:effectLst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796F9F5-7CA9-AF14-A0D3-7F802E5919CD}"/>
              </a:ext>
            </a:extLst>
          </p:cNvPr>
          <p:cNvSpPr txBox="1"/>
          <p:nvPr/>
        </p:nvSpPr>
        <p:spPr>
          <a:xfrm rot="10800000" flipV="1">
            <a:off x="120770" y="166752"/>
            <a:ext cx="12071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800080"/>
                </a:highlight>
              </a:rPr>
              <a:t>Overview of bike rental trends based on time, weather, and day type</a:t>
            </a:r>
            <a:endParaRPr lang="en-IN" sz="2400" dirty="0"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8016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F45E-FC91-74D2-57EB-1B8F9C5B8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Thank You</a:t>
            </a:r>
            <a:br>
              <a:rPr lang="en-US" sz="4000" dirty="0"/>
            </a:br>
            <a:r>
              <a:rPr lang="en-US" sz="4000" b="1" dirty="0"/>
              <a:t>Happy to answer any questions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08379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624</TotalTime>
  <Words>302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Bike Sharing Demand                              Analysis</vt:lpstr>
      <vt:lpstr>PowerPoint Presentation</vt:lpstr>
      <vt:lpstr>Introduction</vt:lpstr>
      <vt:lpstr> This chart shows bike rental distribution by day type.  Most rentals occur on weekdays (71%).  Weekend demand is moderate (27%), while holidays have very low usage (2%). </vt:lpstr>
      <vt:lpstr> Bike rentals increase during working hours.  The highest demand is observed at 5 PM.  Early morning and late-night hours show low usage. </vt:lpstr>
      <vt:lpstr> Bike rentals are highest in clear weather conditions.  Mist also shows moderate usage.  Rainy conditions, especially heavy rain, have very low rentals. </vt:lpstr>
      <vt:lpstr> The dataset represents bike rentals for a specific season.  A total of 58,304 rentals were observed.  Further comparison can be done if multiple seasons are included.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Supriya Prasad</dc:creator>
  <cp:lastModifiedBy>Supriya Prasad</cp:lastModifiedBy>
  <cp:revision>2</cp:revision>
  <dcterms:created xsi:type="dcterms:W3CDTF">2026-03-23T14:13:33Z</dcterms:created>
  <dcterms:modified xsi:type="dcterms:W3CDTF">2026-03-24T11:10:33Z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47f9950-894b-490e-88e5-f77b6bf7e91d_Enabled">
    <vt:lpwstr>true</vt:lpwstr>
  </property>
  <property fmtid="{D5CDD505-2E9C-101B-9397-08002B2CF9AE}" pid="3" name="MSIP_Label_947f9950-894b-490e-88e5-f77b6bf7e91d_SetDate">
    <vt:lpwstr>2026-03-24T00:46:32Z</vt:lpwstr>
  </property>
  <property fmtid="{D5CDD505-2E9C-101B-9397-08002B2CF9AE}" pid="4" name="MSIP_Label_947f9950-894b-490e-88e5-f77b6bf7e91d_Method">
    <vt:lpwstr>Standard</vt:lpwstr>
  </property>
  <property fmtid="{D5CDD505-2E9C-101B-9397-08002B2CF9AE}" pid="5" name="MSIP_Label_947f9950-894b-490e-88e5-f77b6bf7e91d_Name">
    <vt:lpwstr>Internal Information</vt:lpwstr>
  </property>
  <property fmtid="{D5CDD505-2E9C-101B-9397-08002B2CF9AE}" pid="6" name="MSIP_Label_947f9950-894b-490e-88e5-f77b6bf7e91d_SiteId">
    <vt:lpwstr>d52c9ea1-7c21-47b1-82a3-33a74b1f74b8</vt:lpwstr>
  </property>
  <property fmtid="{D5CDD505-2E9C-101B-9397-08002B2CF9AE}" pid="7" name="MSIP_Label_947f9950-894b-490e-88e5-f77b6bf7e91d_ActionId">
    <vt:lpwstr>4e0c5e0f-d605-4e4d-93fb-fcd0cb9c2f60</vt:lpwstr>
  </property>
  <property fmtid="{D5CDD505-2E9C-101B-9397-08002B2CF9AE}" pid="8" name="MSIP_Label_947f9950-894b-490e-88e5-f77b6bf7e91d_ContentBits">
    <vt:lpwstr>0</vt:lpwstr>
  </property>
  <property fmtid="{D5CDD505-2E9C-101B-9397-08002B2CF9AE}" pid="9" name="MSIP_Label_947f9950-894b-490e-88e5-f77b6bf7e91d_Tag">
    <vt:lpwstr>10, 3, 0, 1</vt:lpwstr>
  </property>
</Properties>
</file>